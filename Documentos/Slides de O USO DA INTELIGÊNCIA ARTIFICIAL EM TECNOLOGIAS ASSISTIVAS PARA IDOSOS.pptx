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comments/comment6.xml" ContentType="application/vnd.openxmlformats-officedocument.presentationml.comments+xml"/>
  <Override PartName="/ppt/comments/comment7.xml" ContentType="application/vnd.openxmlformats-officedocument.presentationml.comments+xml"/>
  <Override PartName="/ppt/comments/comment8.xml" ContentType="application/vnd.openxmlformats-officedocument.presentationml.comments+xml"/>
  <Override PartName="/ppt/comments/comment9.xml" ContentType="application/vnd.openxmlformats-officedocument.presentationml.comment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7559675" cy="10691813"/>
</p:presentation>
</file>

<file path=ppt/commentAuthors.xml><?xml version="1.0" encoding="utf-8"?>
<p:cmAuthorLst xmlns:p="http://schemas.openxmlformats.org/presentationml/2006/main">
  <p:cmAuthor id="0" name="RENATA" initials="R" lastIdx="7" clrIdx="0"/>
</p:cmAuthorLst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<Relationship Id="rId15" Type="http://schemas.openxmlformats.org/officeDocument/2006/relationships/commentAuthors" Target="commentAuthors.xml"/>
</Relationships>
</file>

<file path=ppt/comments/comment3.xml><?xml version="1.0" encoding="utf-8"?>
<p:cmLst xmlns:p="http://schemas.openxmlformats.org/presentationml/2006/main">
  <p:cm authorId="0" dt="2022-03-18T13:54:32.123000000" idx="1">
    <p:pos x="2879" y="360"/>
    <p:text>Problemática
Justificativa
Objetivo Geral
Objetivos Específicos</p:text>
  </p:cm>
</p:cmLst>
</file>

<file path=ppt/comments/comment4.xml><?xml version="1.0" encoding="utf-8"?>
<p:cmLst xmlns:p="http://schemas.openxmlformats.org/presentationml/2006/main">
  <p:cm authorId="0" dt="2022-03-18T13:54:32.123000000" idx="2">
    <p:pos x="2879" y="360"/>
    <p:text>Problemática
Justificativa
Objetivo Geral
Objetivos Específicos</p:text>
  </p:cm>
</p:cmLst>
</file>

<file path=ppt/comments/comment5.xml><?xml version="1.0" encoding="utf-8"?>
<p:cmLst xmlns:p="http://schemas.openxmlformats.org/presentationml/2006/main">
  <p:cm authorId="0" dt="2022-03-18T13:55:59.687000000" idx="3">
    <p:pos x="6838" y="720"/>
    <p:text>NÃO MUDAR ESSA FRASE: é uma abordagem qualitativa, de natureza teórica, sem procedimentos práticos e baseados em referenciais teóricos.</p:text>
  </p:cm>
</p:cmLst>
</file>

<file path=ppt/comments/comment6.xml><?xml version="1.0" encoding="utf-8"?>
<p:cmLst xmlns:p="http://schemas.openxmlformats.org/presentationml/2006/main">
  <p:cm authorId="0" dt="2022-03-18T13:59:15.731000000" idx="4">
    <p:pos x="2879" y="360"/>
    <p:text>considerar o principal pesquisador da temática e seus trabalhos científicos publicados. 
Considera-se também a importância do tema para a sociedade em geral. 
Espera-se ainda no desenvolvimento a apresentação de uma lacuna existente na atualidade pela ausência da aplicabilidade da temática pesquisada. 
tópicos do que será explicado (tema)</p:text>
  </p:cm>
</p:cmLst>
</file>

<file path=ppt/comments/comment7.xml><?xml version="1.0" encoding="utf-8"?>
<p:cmLst xmlns:p="http://schemas.openxmlformats.org/presentationml/2006/main">
  <p:cm authorId="0" dt="2022-03-18T13:59:15.731000000" idx="5">
    <p:pos x="2879" y="360"/>
    <p:text>considerar o principal pesquisador da temática e seus trabalhos científicos publicados. 
Considera-se também a importância do tema para a sociedade em geral. 
Espera-se ainda no desenvolvimento a apresentação de uma lacuna existente na atualidade pela ausência da aplicabilidade da temática pesquisada. 
tópicos do que será explicado (tema)</p:text>
  </p:cm>
</p:cmLst>
</file>

<file path=ppt/comments/comment8.xml><?xml version="1.0" encoding="utf-8"?>
<p:cmLst xmlns:p="http://schemas.openxmlformats.org/presentationml/2006/main">
  <p:cm authorId="0" dt="2022-03-18T14:01:17.556000000" idx="6">
    <p:pos x="4679" y="720"/>
    <p:text>Relevância da pesquisa
Proposição de outros estudos e dos estudos práticos (desenvolvimento do sistema)</p:text>
  </p:cm>
</p:cmLst>
</file>

<file path=ppt/comments/comment9.xml><?xml version="1.0" encoding="utf-8"?>
<p:cmLst xmlns:p="http://schemas.openxmlformats.org/presentationml/2006/main">
  <p:cm authorId="0" dt="2022-03-18T14:02:14.520000000" idx="7">
    <p:pos x="3239" y="360"/>
    <p:text>As utilizadas no resumo
somentes as citadas no resumo. No formato ABNT</p:text>
  </p:cm>
</p:cmLst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oment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l">
              <a:lnSpc>
                <a:spcPct val="90000"/>
              </a:lnSpc>
              <a:buNone/>
              <a:tabLst>
                <a:tab pos="0" algn="l"/>
              </a:tabLst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Clique para editar o título Mestre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675676F-5D19-4DAA-9DAF-F88A71D2F524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10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m Branc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B6B0C13-36B4-4507-92C9-119DA40B9DDE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10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údo com Legen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b">
            <a:noAutofit/>
          </a:bodyPr>
          <a:lstStyle>
            <a:lvl1pPr indent="0" algn="l">
              <a:lnSpc>
                <a:spcPct val="90000"/>
              </a:lnSpc>
              <a:buNone/>
              <a:tabLst>
                <a:tab pos="0" algn="l"/>
              </a:tabLst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Clique para editar o título Mestre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os estilos de texto Mestres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indent="0" algn="l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os estilos de texto Mestres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6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B5489BB-FFCD-4593-9EF4-CAEA157C3DC2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10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m com Legen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b">
            <a:noAutofit/>
          </a:bodyPr>
          <a:lstStyle>
            <a:lvl1pPr indent="0" algn="l">
              <a:lnSpc>
                <a:spcPct val="90000"/>
              </a:lnSpc>
              <a:buNone/>
              <a:tabLst>
                <a:tab pos="0" algn="l"/>
              </a:tabLst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Clique para editar o título Mestre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lnSpcReduction="9999"/>
          </a:bodyPr>
          <a:lstStyle>
            <a:lvl1pPr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3240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indent="-2880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2160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indent="-2160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indent="0" algn="l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os estilos de texto Mestres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6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3EC67ED-5D15-4AB4-BC3B-F20E87B96660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lide d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b">
            <a:noAutofit/>
          </a:bodyPr>
          <a:lstStyle>
            <a:lvl1pPr indent="0" algn="ctr">
              <a:lnSpc>
                <a:spcPct val="90000"/>
              </a:lnSpc>
              <a:buNone/>
              <a:tabLst>
                <a:tab pos="0" algn="l"/>
              </a:tabLst>
              <a:defRPr lang="pt-BR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Clique para editar o título Mestre</a:t>
            </a:r>
            <a:endParaRPr lang="pt-BR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37F18AD-8B5D-4196-9A70-5AE8C1BD366A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228600" indent="-22860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ítulo e Texto Vertic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l">
              <a:lnSpc>
                <a:spcPct val="90000"/>
              </a:lnSpc>
              <a:buNone/>
              <a:tabLst>
                <a:tab pos="0" algn="l"/>
              </a:tabLst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Clique para editar o título Mestre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 vert="eaVert">
            <a:noAutofit/>
          </a:bodyPr>
          <a:lstStyle>
            <a:lvl1pPr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os estilos de texto Mestres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4559543-9D18-45A8-B2EE-EF6894754498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exto e Título Vertic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360" cy="58111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 vert="eaVert">
            <a:noAutofit/>
          </a:bodyPr>
          <a:lstStyle>
            <a:lvl1pPr indent="0" algn="l">
              <a:lnSpc>
                <a:spcPct val="90000"/>
              </a:lnSpc>
              <a:buNone/>
              <a:tabLst>
                <a:tab pos="0" algn="l"/>
              </a:tabLst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Clique para editar o título Mestre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520" cy="58111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 vert="eaVert">
            <a:noAutofit/>
          </a:bodyPr>
          <a:lstStyle>
            <a:lvl1pPr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os estilos de texto Mestres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0339FE9-73CF-4EE2-9269-97E230740967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ítulo e Conteú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l">
              <a:lnSpc>
                <a:spcPct val="90000"/>
              </a:lnSpc>
              <a:buNone/>
              <a:tabLst>
                <a:tab pos="0" algn="l"/>
              </a:tabLst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Clique para editar o título Mestre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os estilos de texto Mestres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8FD010C-B189-4AE6-B16A-95B347570212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l">
              <a:lnSpc>
                <a:spcPct val="90000"/>
              </a:lnSpc>
              <a:buNone/>
              <a:tabLst>
                <a:tab pos="0" algn="l"/>
              </a:tabLst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Clique para editar o título Mestre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os estilos de texto Mestres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C39B390-85A0-48F0-8F29-954AEBECFDEB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beçalho da Seç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4880" cy="2851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b">
            <a:noAutofit/>
          </a:bodyPr>
          <a:lstStyle>
            <a:lvl1pPr indent="0" algn="l">
              <a:lnSpc>
                <a:spcPct val="90000"/>
              </a:lnSpc>
              <a:buNone/>
              <a:tabLst>
                <a:tab pos="0" algn="l"/>
              </a:tabLst>
              <a:defRPr lang="pt-BR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Clique para editar o título Mestre</a:t>
            </a:r>
            <a:endParaRPr lang="pt-BR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4880" cy="14994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indent="0" algn="l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Clique para editar os estilos de texto Mestres</a:t>
            </a:r>
            <a:endParaRPr lang="pt-BR" sz="24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01D21A9-1BAE-441D-BB7D-F634DB8AD518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uas Partes de Conteú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l">
              <a:lnSpc>
                <a:spcPct val="90000"/>
              </a:lnSpc>
              <a:buNone/>
              <a:tabLst>
                <a:tab pos="0" algn="l"/>
              </a:tabLst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Clique para editar o título Mestre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os estilos de texto Mestres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os estilos de texto Mestres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E10A32C-B3C1-497C-B56D-30AB372CC625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ç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l">
              <a:lnSpc>
                <a:spcPct val="90000"/>
              </a:lnSpc>
              <a:buNone/>
              <a:tabLst>
                <a:tab pos="0" algn="l"/>
              </a:tabLst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Clique para editar o título Mestre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000" cy="823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b">
            <a:noAutofit/>
          </a:bodyPr>
          <a:lstStyle>
            <a:lvl1pPr indent="0" algn="l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os estilos de texto Mestres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000" cy="36838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os estilos de texto Mestres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560" cy="823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b">
            <a:noAutofit/>
          </a:bodyPr>
          <a:lstStyle>
            <a:lvl1pPr indent="0" algn="l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os estilos de texto Mestres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560" cy="36838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os estilos de texto Mestres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6"/>
          <p:cNvSpPr>
            <a:spLocks noGrp="1"/>
          </p:cNvSpPr>
          <p:nvPr>
            <p:ph type="dt" idx="3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7"/>
          <p:cNvSpPr>
            <a:spLocks noGrp="1"/>
          </p:cNvSpPr>
          <p:nvPr>
            <p:ph type="ftr" idx="35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8"/>
          <p:cNvSpPr>
            <a:spLocks noGrp="1"/>
          </p:cNvSpPr>
          <p:nvPr>
            <p:ph type="sldNum" idx="36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8E766B1-AD78-4951-9E4F-FE2A19E68BC7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8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8.xml"/><Relationship Id="rId4" Type="http://schemas.openxmlformats.org/officeDocument/2006/relationships/comments" Target="../comments/commen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8.xml"/><Relationship Id="rId4" Type="http://schemas.openxmlformats.org/officeDocument/2006/relationships/comments" Target="../comments/commen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8.xml"/><Relationship Id="rId4" Type="http://schemas.openxmlformats.org/officeDocument/2006/relationships/comments" Target="../comments/commen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8.xml"/><Relationship Id="rId4" Type="http://schemas.openxmlformats.org/officeDocument/2006/relationships/comments" Target="../comments/comment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8.xml"/><Relationship Id="rId4" Type="http://schemas.openxmlformats.org/officeDocument/2006/relationships/comments" Target="../comments/comment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8.xml"/><Relationship Id="rId4" Type="http://schemas.openxmlformats.org/officeDocument/2006/relationships/comments" Target="../comments/comment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8.xml"/><Relationship Id="rId4" Type="http://schemas.openxmlformats.org/officeDocument/2006/relationships/comments" Target="../comments/commen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b">
            <a:noAutofit/>
          </a:bodyPr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endParaRPr lang="pt-BR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280" cy="1654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Autofit/>
          </a:bodyPr>
          <a:p>
            <a:pPr indent="0" algn="ctr">
              <a:buNone/>
            </a:pP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67" name="Imagem 4" descr="Gráfico, Gráfico de funil&#10;&#10;Descrição gerada automaticamente"/>
          <p:cNvPicPr/>
          <p:nvPr/>
        </p:nvPicPr>
        <p:blipFill>
          <a:blip r:embed="rId1"/>
          <a:stretch/>
        </p:blipFill>
        <p:spPr>
          <a:xfrm rot="10800000">
            <a:off x="720" y="0"/>
            <a:ext cx="12191400" cy="6857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8" name="Imagem 8" descr="Logotipo&#10;&#10;Descrição gerada automaticamente com confiança baixa"/>
          <p:cNvPicPr/>
          <p:nvPr/>
        </p:nvPicPr>
        <p:blipFill>
          <a:blip r:embed="rId2"/>
          <a:stretch/>
        </p:blipFill>
        <p:spPr>
          <a:xfrm>
            <a:off x="6751800" y="2763720"/>
            <a:ext cx="4433040" cy="1329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l">
              <a:lnSpc>
                <a:spcPct val="90000"/>
              </a:lnSpc>
              <a:buNone/>
              <a:tabLst>
                <a:tab pos="0" algn="l"/>
              </a:tabLst>
            </a:pP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pic>
        <p:nvPicPr>
          <p:cNvPr id="70" name="Espaço Reservado para Conteúdo 4" descr="Gráfico, Gráfico de barras&#10;&#10;Descrição gerada automaticamente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" name="Text Box 9"/>
          <p:cNvSpPr/>
          <p:nvPr/>
        </p:nvSpPr>
        <p:spPr>
          <a:xfrm>
            <a:off x="0" y="2386440"/>
            <a:ext cx="6119640" cy="265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pt-BR" sz="3000" b="1" u="none" strike="noStrike">
                <a:solidFill>
                  <a:srgbClr val="153553"/>
                </a:solidFill>
                <a:effectLst/>
                <a:uFillTx/>
                <a:latin typeface="Verdana"/>
                <a:ea typeface="ＭＳ Ｐゴシック"/>
              </a:rPr>
              <a:t>O USO DA INTELIGÊNCIA ARTIFICIAL EM TECNOLOGIAS ASSISTIVAS PARA IDOSOS</a:t>
            </a:r>
            <a:endParaRPr lang="pt-B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pt-B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Box 9"/>
          <p:cNvSpPr/>
          <p:nvPr/>
        </p:nvSpPr>
        <p:spPr>
          <a:xfrm>
            <a:off x="7927560" y="2237400"/>
            <a:ext cx="3425400" cy="83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spcBef>
                <a:spcPts val="601"/>
              </a:spcBef>
            </a:pPr>
            <a:r>
              <a:rPr lang="pt-BR" sz="1200" b="1" u="none" strike="noStrike">
                <a:solidFill>
                  <a:srgbClr val="153553"/>
                </a:solidFill>
                <a:effectLst/>
                <a:uFillTx/>
                <a:latin typeface="Verdana"/>
                <a:ea typeface="ＭＳ Ｐゴシック"/>
              </a:rPr>
              <a:t>Profª Isabella Luiza  S. Santos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</a:pP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</a:pPr>
            <a:r>
              <a:rPr lang="pt-BR" sz="1200" b="0" u="none" strike="noStrike">
                <a:solidFill>
                  <a:srgbClr val="153553"/>
                </a:solidFill>
                <a:effectLst/>
                <a:uFillTx/>
                <a:latin typeface="Verdana"/>
                <a:ea typeface="ＭＳ Ｐゴシック"/>
              </a:rPr>
              <a:t>Nathan Gabriel Nunes dos Santos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Box 9"/>
          <p:cNvSpPr/>
          <p:nvPr/>
        </p:nvSpPr>
        <p:spPr>
          <a:xfrm>
            <a:off x="8693280" y="6026400"/>
            <a:ext cx="304452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  <a:spcBef>
                <a:spcPts val="700"/>
              </a:spcBef>
            </a:pPr>
            <a:r>
              <a:rPr lang="pt-BR" sz="1400" b="1" u="none" strike="noStrike">
                <a:solidFill>
                  <a:schemeClr val="lt1"/>
                </a:solidFill>
                <a:effectLst/>
                <a:uFillTx/>
                <a:latin typeface="Verdana"/>
                <a:ea typeface="ＭＳ Ｐゴシック"/>
              </a:rPr>
              <a:t>DESIGN PROFISSIONAL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Box 9"/>
          <p:cNvSpPr/>
          <p:nvPr/>
        </p:nvSpPr>
        <p:spPr>
          <a:xfrm>
            <a:off x="720000" y="4500000"/>
            <a:ext cx="50396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499"/>
              </a:spcBef>
            </a:pPr>
            <a:r>
              <a:rPr lang="pt-BR" sz="1000" b="1" u="none" strike="noStrike">
                <a:solidFill>
                  <a:srgbClr val="FF7929"/>
                </a:solidFill>
                <a:effectLst/>
                <a:uFillTx/>
                <a:latin typeface="Verdana"/>
                <a:ea typeface="ＭＳ Ｐゴシック"/>
              </a:rPr>
              <a:t>Inteligência Artificial – Idosos – Tecnologias Assistivas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5" name="Imagem 6" descr="Logotipo&#10;&#10;Descrição gerada automaticamente com confiança média"/>
          <p:cNvPicPr/>
          <p:nvPr/>
        </p:nvPicPr>
        <p:blipFill>
          <a:blip r:embed="rId2"/>
          <a:stretch/>
        </p:blipFill>
        <p:spPr>
          <a:xfrm>
            <a:off x="4528440" y="5931000"/>
            <a:ext cx="1340640" cy="40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" name="Retângulo 1"/>
          <p:cNvSpPr/>
          <p:nvPr/>
        </p:nvSpPr>
        <p:spPr>
          <a:xfrm>
            <a:off x="10215720" y="5254200"/>
            <a:ext cx="1084680" cy="3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  <a:spcBef>
                <a:spcPts val="601"/>
              </a:spcBef>
            </a:pPr>
            <a:r>
              <a:rPr lang="pt-BR" sz="1800" b="1" u="none" strike="noStrike">
                <a:solidFill>
                  <a:srgbClr val="153553"/>
                </a:solidFill>
                <a:effectLst/>
                <a:uFillTx/>
                <a:latin typeface="Verdana"/>
                <a:ea typeface="ＭＳ Ｐゴシック"/>
              </a:rPr>
              <a:t>2026.2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l">
              <a:lnSpc>
                <a:spcPct val="90000"/>
              </a:lnSpc>
              <a:buNone/>
              <a:tabLst>
                <a:tab pos="0" algn="l"/>
              </a:tabLst>
            </a:pP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pic>
        <p:nvPicPr>
          <p:cNvPr id="78" name="Espaço Reservado para Conteúdo 4" descr="Gráfico, Gráfico de barras&#10;&#10;Descrição gerada automaticamente"/>
          <p:cNvPicPr/>
          <p:nvPr/>
        </p:nvPicPr>
        <p:blipFill>
          <a:blip r:embed="rId1"/>
          <a:stretch/>
        </p:blipFill>
        <p:spPr>
          <a:xfrm rot="10800000">
            <a:off x="720" y="0"/>
            <a:ext cx="12191400" cy="685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" name="Rectangle 7"/>
          <p:cNvSpPr/>
          <p:nvPr/>
        </p:nvSpPr>
        <p:spPr>
          <a:xfrm>
            <a:off x="506520" y="1984320"/>
            <a:ext cx="6130080" cy="364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171360" indent="-1713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 PROBLEMÁTICA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Crescimento do envelhecimento populacional e idosos </a:t>
            </a: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	</a:t>
            </a: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morando </a:t>
            </a: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	</a:t>
            </a: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sozinhos.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Suporte presencial de familiares e cuidadores cada </a:t>
            </a: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	</a:t>
            </a: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	</a:t>
            </a: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	</a:t>
            </a: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vez mais limitados.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Barreiras de acessibilidade e letramento digital no uso de tecnologias.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 JUSTIFICATIVA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Potencial da Inteligência Artificial e comandos de voz como Tecnologia Assistiva Digital.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Importância de projetar interfaces humanizadas e empáticas para evitar a rejeição da tecnologia.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Urgência em soluções que promovam a autonomia, segurança e qualidade de vida na terceira idade.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0" name="Imagem 6" descr="Logotipo&#10;&#10;Descrição gerada automaticamente com confiança média"/>
          <p:cNvPicPr/>
          <p:nvPr/>
        </p:nvPicPr>
        <p:blipFill>
          <a:blip r:embed="rId2"/>
          <a:stretch/>
        </p:blipFill>
        <p:spPr>
          <a:xfrm>
            <a:off x="5508720" y="6031080"/>
            <a:ext cx="1340640" cy="40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" name="Text Box 9"/>
          <p:cNvSpPr/>
          <p:nvPr/>
        </p:nvSpPr>
        <p:spPr>
          <a:xfrm>
            <a:off x="506520" y="606600"/>
            <a:ext cx="4261680" cy="55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spcBef>
                <a:spcPts val="1500"/>
              </a:spcBef>
            </a:pPr>
            <a:r>
              <a:rPr lang="pt-BR" sz="3000" b="1" u="none" strike="noStrike">
                <a:solidFill>
                  <a:srgbClr val="153553"/>
                </a:solidFill>
                <a:effectLst/>
                <a:uFillTx/>
                <a:latin typeface="Verdana"/>
                <a:ea typeface="ＭＳ Ｐゴシック"/>
              </a:rPr>
              <a:t>INTRODUÇÃO</a:t>
            </a:r>
            <a:endParaRPr lang="pt-B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l">
              <a:lnSpc>
                <a:spcPct val="90000"/>
              </a:lnSpc>
              <a:buNone/>
              <a:tabLst>
                <a:tab pos="0" algn="l"/>
              </a:tabLst>
            </a:pP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pic>
        <p:nvPicPr>
          <p:cNvPr id="83" name="Espaço Reservado para Conteúdo 4" descr="Gráfico, Gráfico de barras&#10;&#10;Descrição gerada automaticamente"/>
          <p:cNvPicPr/>
          <p:nvPr/>
        </p:nvPicPr>
        <p:blipFill>
          <a:blip r:embed="rId1"/>
          <a:stretch/>
        </p:blipFill>
        <p:spPr>
          <a:xfrm rot="10800000">
            <a:off x="720" y="0"/>
            <a:ext cx="12191400" cy="685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" name="Rectangle 7"/>
          <p:cNvSpPr/>
          <p:nvPr/>
        </p:nvSpPr>
        <p:spPr>
          <a:xfrm>
            <a:off x="506520" y="1984320"/>
            <a:ext cx="6130080" cy="364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171360" indent="-1713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OBJETIVO GERAL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Analisar o papel da Inteligência Artificial no desenvolvimento de interfaces assistivas para idosos.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OBJETIVOS ESPECÍFICOS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Mapear tendências em assistentes de voz e robôs cuidadores; Identificar fatores de IHC, usabilidade e design empático; Mapear lacunas científicas e éticas no uso de dados.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5" name="Imagem 6" descr="Logotipo&#10;&#10;Descrição gerada automaticamente com confiança média"/>
          <p:cNvPicPr/>
          <p:nvPr/>
        </p:nvPicPr>
        <p:blipFill>
          <a:blip r:embed="rId2"/>
          <a:stretch/>
        </p:blipFill>
        <p:spPr>
          <a:xfrm>
            <a:off x="5508720" y="6031080"/>
            <a:ext cx="1340640" cy="40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" name="Text Box 9"/>
          <p:cNvSpPr/>
          <p:nvPr/>
        </p:nvSpPr>
        <p:spPr>
          <a:xfrm>
            <a:off x="506520" y="606600"/>
            <a:ext cx="4261680" cy="55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spcBef>
                <a:spcPts val="1500"/>
              </a:spcBef>
            </a:pPr>
            <a:r>
              <a:rPr lang="pt-BR" sz="3000" b="1" u="none" strike="noStrike">
                <a:solidFill>
                  <a:srgbClr val="153553"/>
                </a:solidFill>
                <a:effectLst/>
                <a:uFillTx/>
                <a:latin typeface="Verdana"/>
                <a:ea typeface="ＭＳ Ｐゴシック"/>
              </a:rPr>
              <a:t>INTRODUÇÃO</a:t>
            </a:r>
            <a:endParaRPr lang="pt-B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l">
              <a:lnSpc>
                <a:spcPct val="90000"/>
              </a:lnSpc>
              <a:buNone/>
              <a:tabLst>
                <a:tab pos="0" algn="l"/>
              </a:tabLst>
            </a:pP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pic>
        <p:nvPicPr>
          <p:cNvPr id="88" name="Espaço Reservado para Conteúdo 4" descr="Gráfico, Gráfico de barras&#10;&#10;Descrição gerada automaticamente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9" name="Imagem 6" descr="Logotipo&#10;&#10;Descrição gerada automaticamente com confiança média"/>
          <p:cNvPicPr/>
          <p:nvPr/>
        </p:nvPicPr>
        <p:blipFill>
          <a:blip r:embed="rId2"/>
          <a:stretch/>
        </p:blipFill>
        <p:spPr>
          <a:xfrm>
            <a:off x="10242720" y="6031080"/>
            <a:ext cx="1340640" cy="40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" name="Text Box 9"/>
          <p:cNvSpPr/>
          <p:nvPr/>
        </p:nvSpPr>
        <p:spPr>
          <a:xfrm>
            <a:off x="5630040" y="777960"/>
            <a:ext cx="5282640" cy="101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spcBef>
                <a:spcPts val="1500"/>
              </a:spcBef>
            </a:pPr>
            <a:r>
              <a:rPr lang="pt-BR" sz="3000" b="1" u="none" strike="noStrike">
                <a:solidFill>
                  <a:srgbClr val="153553"/>
                </a:solidFill>
                <a:effectLst/>
                <a:uFillTx/>
                <a:latin typeface="Verdana"/>
                <a:ea typeface="ＭＳ Ｐゴシック"/>
              </a:rPr>
              <a:t>METODOLOGIA/MÉTODO DA PESQUISA</a:t>
            </a:r>
            <a:endParaRPr lang="pt-B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Rectangle 7"/>
          <p:cNvSpPr/>
          <p:nvPr/>
        </p:nvSpPr>
        <p:spPr>
          <a:xfrm>
            <a:off x="5630040" y="2719440"/>
            <a:ext cx="6130080" cy="79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just">
              <a:lnSpc>
                <a:spcPct val="90000"/>
              </a:lnSpc>
              <a:spcBef>
                <a:spcPts val="1001"/>
              </a:spcBef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Revisão narrativa com análise documental, abordagem qualitativa com seleção de 3 artigos e organização da análise em 2 eixos temáticos.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Espaço Reservado para Conteúdo 4" descr="Gráfico, Gráfico de barras&#10;&#10;Descrição gerada automaticamente"/>
          <p:cNvPicPr/>
          <p:nvPr/>
        </p:nvPicPr>
        <p:blipFill>
          <a:blip r:embed="rId1"/>
          <a:stretch/>
        </p:blipFill>
        <p:spPr>
          <a:xfrm rot="10800000">
            <a:off x="720" y="0"/>
            <a:ext cx="12191400" cy="6857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3" name="Imagem 6" descr="Logotipo&#10;&#10;Descrição gerada automaticamente com confiança média"/>
          <p:cNvPicPr/>
          <p:nvPr/>
        </p:nvPicPr>
        <p:blipFill>
          <a:blip r:embed="rId2"/>
          <a:stretch/>
        </p:blipFill>
        <p:spPr>
          <a:xfrm>
            <a:off x="5508720" y="6031080"/>
            <a:ext cx="1340640" cy="40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" name="Text Box 9"/>
          <p:cNvSpPr/>
          <p:nvPr/>
        </p:nvSpPr>
        <p:spPr>
          <a:xfrm>
            <a:off x="506520" y="606600"/>
            <a:ext cx="4261680" cy="101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spcBef>
                <a:spcPts val="1500"/>
              </a:spcBef>
            </a:pPr>
            <a:r>
              <a:rPr lang="pt-BR" sz="3000" b="1" u="none" strike="noStrike">
                <a:solidFill>
                  <a:srgbClr val="153553"/>
                </a:solidFill>
                <a:effectLst/>
                <a:uFillTx/>
                <a:latin typeface="Verdana"/>
                <a:ea typeface="ＭＳ Ｐゴシック"/>
              </a:rPr>
              <a:t>FUNDAMENTAÇÃO TEÓRICA</a:t>
            </a:r>
            <a:endParaRPr lang="pt-B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Rectangle 7"/>
          <p:cNvSpPr/>
          <p:nvPr/>
        </p:nvSpPr>
        <p:spPr>
          <a:xfrm>
            <a:off x="506520" y="1984320"/>
            <a:ext cx="6130080" cy="364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171360" indent="-1713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Residências Inteligentes e Robôs Cuidadores (</a:t>
            </a:r>
            <a:r>
              <a:rPr lang="pt-BR" sz="1400" b="1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Souza, Florian e Farina</a:t>
            </a: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, 2021)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Mercado oferece robôs interativos para auxílio e entretenimento para pessoas idosas (ex: Pepper para lembrete de remédios e ElliQ para companhia).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"/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Assistentes Pessoais Digitais por Voz (</a:t>
            </a:r>
            <a:r>
              <a:rPr lang="pt-BR" sz="1400" b="1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Barbosa e Okimoto</a:t>
            </a: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, 2022)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Dispositivos de voz (Alexa, Google Assistente) podem atuar como Tecnologias Assistivas Digitais (DATs).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Redução de barreiras de aprendizado sem exigir alto letramento digital do idoso.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Espaço Reservado para Conteúdo 4" descr="Gráfico, Gráfico de barras&#10;&#10;Descrição gerada automaticamente"/>
          <p:cNvPicPr/>
          <p:nvPr/>
        </p:nvPicPr>
        <p:blipFill>
          <a:blip r:embed="rId1"/>
          <a:stretch/>
        </p:blipFill>
        <p:spPr>
          <a:xfrm rot="10800000">
            <a:off x="720" y="0"/>
            <a:ext cx="12191400" cy="6857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7" name="Imagem 6" descr="Logotipo&#10;&#10;Descrição gerada automaticamente com confiança média"/>
          <p:cNvPicPr/>
          <p:nvPr/>
        </p:nvPicPr>
        <p:blipFill>
          <a:blip r:embed="rId2"/>
          <a:stretch/>
        </p:blipFill>
        <p:spPr>
          <a:xfrm>
            <a:off x="5508720" y="6031080"/>
            <a:ext cx="1340640" cy="40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" name="Text Box 9"/>
          <p:cNvSpPr/>
          <p:nvPr/>
        </p:nvSpPr>
        <p:spPr>
          <a:xfrm>
            <a:off x="506520" y="606600"/>
            <a:ext cx="4261680" cy="101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spcBef>
                <a:spcPts val="1500"/>
              </a:spcBef>
            </a:pPr>
            <a:r>
              <a:rPr lang="pt-BR" sz="3000" b="1" u="none" strike="noStrike">
                <a:solidFill>
                  <a:srgbClr val="153553"/>
                </a:solidFill>
                <a:effectLst/>
                <a:uFillTx/>
                <a:latin typeface="Verdana"/>
                <a:ea typeface="ＭＳ Ｐゴシック"/>
              </a:rPr>
              <a:t>FUNDAMENTAÇÃO TEÓRICA</a:t>
            </a:r>
            <a:endParaRPr lang="pt-B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Rectangle 7"/>
          <p:cNvSpPr/>
          <p:nvPr/>
        </p:nvSpPr>
        <p:spPr>
          <a:xfrm>
            <a:off x="506520" y="1984320"/>
            <a:ext cx="6130080" cy="364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171360" indent="-17136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"/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IHC, Usabilidade e Design Empático (</a:t>
            </a:r>
            <a:r>
              <a:rPr lang="pt-BR" sz="1400" b="1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Kawamoto et al.</a:t>
            </a: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, 2026)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Análise de 42 publicações e 7 estudos de caso sobre aceitação tecnológica.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Necessidade de Design Centrado no Usuário (UCD), co-design, contexto emocional e adaptação cultural.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Mitigação de barreiras: estigma de aparência médica, privacidade e usabilidade multimodal.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"/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Síntese Crítica dos Três Estudos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Convergência no alto potencial da IA para a autonomia de idosos.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Principal lacuna científica: escassez de testes empíricos e falta de regulamentação transparente no uso de dados.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Espaço Reservado para Conteúdo 4" descr="Gráfico, Gráfico de barras&#10;&#10;Descrição gerada automaticamente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1" name="Imagem 6" descr="Logotipo&#10;&#10;Descrição gerada automaticamente com confiança média"/>
          <p:cNvPicPr/>
          <p:nvPr/>
        </p:nvPicPr>
        <p:blipFill>
          <a:blip r:embed="rId2"/>
          <a:stretch/>
        </p:blipFill>
        <p:spPr>
          <a:xfrm>
            <a:off x="10298160" y="6154560"/>
            <a:ext cx="1340640" cy="40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" name="Text Box 9"/>
          <p:cNvSpPr/>
          <p:nvPr/>
        </p:nvSpPr>
        <p:spPr>
          <a:xfrm>
            <a:off x="5508720" y="844560"/>
            <a:ext cx="4261680" cy="101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spcBef>
                <a:spcPts val="1500"/>
              </a:spcBef>
            </a:pPr>
            <a:r>
              <a:rPr lang="pt-BR" sz="3000" b="1" u="none" strike="noStrike">
                <a:solidFill>
                  <a:srgbClr val="153553"/>
                </a:solidFill>
                <a:effectLst/>
                <a:uFillTx/>
                <a:latin typeface="Verdana"/>
                <a:ea typeface="ＭＳ Ｐゴシック"/>
              </a:rPr>
              <a:t>CONSIDERAÇÕES FINAIS</a:t>
            </a:r>
            <a:endParaRPr lang="pt-B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Rectangle 7"/>
          <p:cNvSpPr/>
          <p:nvPr/>
        </p:nvSpPr>
        <p:spPr>
          <a:xfrm>
            <a:off x="5508720" y="2208240"/>
            <a:ext cx="6130080" cy="364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171360" indent="-17136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"/>
            </a:pPr>
            <a:r>
              <a:rPr lang="pt-BR" sz="1400" b="1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Resposta ao Objetivo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 A Inteligência Artificial pode atuar eficientemente como Tecnologia Assistiva Digital para idosos.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"/>
            </a:pPr>
            <a:r>
              <a:rPr lang="pt-BR" sz="1400" b="1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Fator Chave para Aceitação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 Adoção de metodologias de co-design e interfaces com olhar empático.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"/>
            </a:pPr>
            <a:r>
              <a:rPr lang="pt-BR" sz="1400" b="1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Trabalhos Futuros / Necessidades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Realização de pesquisas e testes empíricos para garantir acessibilidade prática e segurança ética dos dados dos usuários.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l">
              <a:lnSpc>
                <a:spcPct val="90000"/>
              </a:lnSpc>
              <a:buNone/>
              <a:tabLst>
                <a:tab pos="0" algn="l"/>
              </a:tabLst>
            </a:pP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pic>
        <p:nvPicPr>
          <p:cNvPr id="105" name="Espaço Reservado para Conteúdo 4" descr="Gráfico, Gráfico de barras&#10;&#10;Descrição gerada automaticamente"/>
          <p:cNvPicPr/>
          <p:nvPr/>
        </p:nvPicPr>
        <p:blipFill>
          <a:blip r:embed="rId1"/>
          <a:stretch/>
        </p:blipFill>
        <p:spPr>
          <a:xfrm rot="10800000">
            <a:off x="720" y="0"/>
            <a:ext cx="12191400" cy="685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Rectangle 7"/>
          <p:cNvSpPr/>
          <p:nvPr/>
        </p:nvSpPr>
        <p:spPr>
          <a:xfrm>
            <a:off x="506520" y="2146320"/>
            <a:ext cx="6130080" cy="364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just">
              <a:lnSpc>
                <a:spcPct val="90000"/>
              </a:lnSpc>
              <a:spcBef>
                <a:spcPts val="1001"/>
              </a:spcBef>
            </a:pP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"/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BARBOSA, Maria Lilian de Araújo; OKIMOTO, Maria Lúcia L. R. Assistentes Pessoais Digitais usadas como Tecnologia Assistiva Digital para idosos. 2022.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"/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KAWAMOTO, André Luiz Satoshi; GARCÍA, Alberto Hitos; RODRÍGUEZ, Patricia Paderewski; VELA, Francisco Luís Gutíerrez. Empathy-Driven Assistive Technologies for Older Adults: A Narrative Review and Practical Implementation Framework. CLEI Electronic Journal, v. 29, n. 1, 2026.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"/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SOUZA, Rui Carlos Godoy; FARINA, Renata Mirella; FLORIAN, Fabiana. Inteligência Artificial Adaptada a Idosos. Interface Tecnológica, v. 18, n. 2, 2021. DOI: 10.31510/infa.v18i2.1275.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7" name="Imagem 6" descr="Logotipo&#10;&#10;Descrição gerada automaticamente com confiança média"/>
          <p:cNvPicPr/>
          <p:nvPr/>
        </p:nvPicPr>
        <p:blipFill>
          <a:blip r:embed="rId2"/>
          <a:stretch/>
        </p:blipFill>
        <p:spPr>
          <a:xfrm>
            <a:off x="5508720" y="6031080"/>
            <a:ext cx="1340640" cy="40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" name="Text Box 9"/>
          <p:cNvSpPr/>
          <p:nvPr/>
        </p:nvSpPr>
        <p:spPr>
          <a:xfrm>
            <a:off x="570600" y="844560"/>
            <a:ext cx="4261680" cy="101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spcBef>
                <a:spcPts val="1500"/>
              </a:spcBef>
            </a:pPr>
            <a:r>
              <a:rPr lang="pt-BR" sz="3000" b="1" u="none" strike="noStrike">
                <a:solidFill>
                  <a:srgbClr val="153553"/>
                </a:solidFill>
                <a:effectLst/>
                <a:uFillTx/>
                <a:latin typeface="Verdana"/>
                <a:ea typeface="ＭＳ Ｐゴシック"/>
              </a:rPr>
              <a:t>REFERÊNCIA BIBLIOGRÁFICA</a:t>
            </a:r>
            <a:endParaRPr lang="pt-B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Espaço Reservado para Conteúdo 4" descr="Uma imagem contendo Retângulo&#10;&#10;Descrição gerada automaticamente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" name="Text Box 6"/>
          <p:cNvSpPr/>
          <p:nvPr/>
        </p:nvSpPr>
        <p:spPr>
          <a:xfrm>
            <a:off x="2607480" y="1676520"/>
            <a:ext cx="6976440" cy="399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  <a:spcBef>
                <a:spcPts val="1599"/>
              </a:spcBef>
            </a:pPr>
            <a:r>
              <a:rPr lang="en-US" sz="3200" b="0" i="1" u="none" strike="noStrike">
                <a:solidFill>
                  <a:schemeClr val="lt1"/>
                </a:solidFill>
                <a:effectLst/>
                <a:uFillTx/>
                <a:latin typeface="Verdana"/>
              </a:rPr>
              <a:t>“Agradeço a Souza, Farina, Florian, García, Rodríguez, Kawamoto, Vela, Barbosa, Okimoto e todos os envolvidos nessas contribuições científicas desses artigos. O aprendizado e descoberta são sempre bem-vindos.”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l">
              <a:lnSpc>
                <a:spcPct val="90000"/>
              </a:lnSpc>
              <a:buNone/>
              <a:tabLst>
                <a:tab pos="0" algn="l"/>
              </a:tabLst>
            </a:pP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pic>
        <p:nvPicPr>
          <p:cNvPr id="112" name="Espaço Reservado para Conteúdo 4" descr="Uma imagem contendo Forma&#10;&#10;Descrição gerada automaticamente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3" name="Imagem 6" descr="Logotipo&#10;&#10;Descrição gerada automaticamente com confiança baixa"/>
          <p:cNvPicPr/>
          <p:nvPr/>
        </p:nvPicPr>
        <p:blipFill>
          <a:blip r:embed="rId2"/>
          <a:stretch/>
        </p:blipFill>
        <p:spPr>
          <a:xfrm>
            <a:off x="1236600" y="2763720"/>
            <a:ext cx="4433040" cy="1329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DAED1B117F6894D909B25A69A4597D2" ma:contentTypeVersion="11" ma:contentTypeDescription="Crie um novo documento." ma:contentTypeScope="" ma:versionID="fc0e1081098a96f1fc26b259e7bbb1c8">
  <xsd:schema xmlns:xsd="http://www.w3.org/2001/XMLSchema" xmlns:xs="http://www.w3.org/2001/XMLSchema" xmlns:p="http://schemas.microsoft.com/office/2006/metadata/properties" xmlns:ns2="0cd93fe2-0880-41f5-aab4-f958682b72cb" xmlns:ns3="18000554-2c77-4cf4-9366-a485aa9d7e35" targetNamespace="http://schemas.microsoft.com/office/2006/metadata/properties" ma:root="true" ma:fieldsID="f39cd65ee00b5e4c5dd2756fb7575f2f" ns2:_="" ns3:_="">
    <xsd:import namespace="0cd93fe2-0880-41f5-aab4-f958682b72cb"/>
    <xsd:import namespace="18000554-2c77-4cf4-9366-a485aa9d7e3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d93fe2-0880-41f5-aab4-f958682b72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000554-2c77-4cf4-9366-a485aa9d7e35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EB3752F-42B6-452F-9AAE-531B3222458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cd93fe2-0880-41f5-aab4-f958682b72cb"/>
    <ds:schemaRef ds:uri="18000554-2c77-4cf4-9366-a485aa9d7e3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4661556-5590-415F-9315-F9BACBDA7B8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901</TotalTime>
  <Application>LibreOffice/26.2.6.3$Windows_X86_64 LibreOffice_project/8221e31b3ac356a1623c672912a3d2b492f7e3d1</Application>
  <AppVersion>15.0000</AppVersion>
  <Words>193</Words>
  <Paragraphs>62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2021-05-14T17:32:15Z</dcterms:created>
  <dc:creator>Criação 04</dc:creator>
  <dc:description/>
  <dc:language>pt-BR</dc:language>
  <cp:lastModifiedBy/>
  <dcterms:modified xsi:type="dcterms:W3CDTF">2026-10-14T23:15:56Z</dcterms:modified>
  <cp:revision>24</cp:revision>
  <dc:subject/>
  <dc:title>Apresentação do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11</vt:i4>
  </property>
</Properties>
</file>